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636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Production ML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362651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Customer Churn Prediction   ·   Non-Contractual Online Retail</a:t>
            </a:r>
          </a:p>
          <a:p>
            <a:pPr marL="0" indent="0">
              <a:buNone/>
            </a:pPr>
            <a:endParaRPr lang="en-US" sz="17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Kinjal Joshi | 2025EM1100339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2026991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Online Retail   ·   541,909 transactions   ·   4,372 customers   ·   Dec 2010 – Dec 2011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39639"/>
            <a:ext cx="11094415" cy="0"/>
          </a:xfrm>
          <a:prstGeom prst="line">
            <a:avLst/>
          </a:prstGeom>
          <a:noFill/>
          <a:ln w="9525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2913959"/>
            <a:ext cx="194456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480887"/>
            <a:ext cx="203600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ROC AUC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(candidate LightGBM)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67523" y="3005399"/>
            <a:ext cx="0" cy="960120"/>
          </a:xfrm>
          <a:prstGeom prst="line">
            <a:avLst/>
          </a:prstGeom>
          <a:noFill/>
          <a:ln w="9525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04683" y="2913959"/>
            <a:ext cx="194456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858963" y="3480887"/>
            <a:ext cx="203600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precision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£ economics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86406" y="3005399"/>
            <a:ext cx="0" cy="960120"/>
          </a:xfrm>
          <a:prstGeom prst="line">
            <a:avLst/>
          </a:prstGeom>
          <a:noFill/>
          <a:ln w="9525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123566" y="2913959"/>
            <a:ext cx="194456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 ms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77846" y="3480887"/>
            <a:ext cx="203600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p95 latency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150 ms SLO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05289" y="3005399"/>
            <a:ext cx="0" cy="960120"/>
          </a:xfrm>
          <a:prstGeom prst="line">
            <a:avLst/>
          </a:prstGeom>
          <a:noFill/>
          <a:ln w="9525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42449" y="2913959"/>
            <a:ext cx="194456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6,324/s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296729" y="3480887"/>
            <a:ext cx="203600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throughput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per second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24172" y="3005399"/>
            <a:ext cx="0" cy="960120"/>
          </a:xfrm>
          <a:prstGeom prst="line">
            <a:avLst/>
          </a:prstGeom>
          <a:noFill/>
          <a:ln w="9525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561332" y="2913959"/>
            <a:ext cx="194456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515612" y="3480887"/>
            <a:ext cx="203600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85559"/>
            <a:ext cx="11094415" cy="0"/>
          </a:xfrm>
          <a:prstGeom prst="line">
            <a:avLst/>
          </a:prstGeom>
          <a:noFill/>
          <a:ln w="9525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468439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34199"/>
            <a:ext cx="52728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ingestion — schema-validated, idempotent, audited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engineered features in one module shared by training and serving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Purged temporal split (July embargoed) — no entity or label leakage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 tiers: prevalence → business rule → linear → GBDT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33008" y="4834199"/>
            <a:ext cx="52728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promotion gates derived from campaign economics, not guessed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hybrid serving + registry with stage-based rollback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PSI/KS drift, data-quality and schema monitoring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4-signal retraining trigger with hard blocks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→ ingestion → warehouse → features → training → registry → serving → monitoring → retraining</a:t>
            </a:r>
            <a:endParaRPr lang="en-US" sz="1300" dirty="0"/>
          </a:p>
        </p:txBody>
      </p:sp>
      <p:pic>
        <p:nvPicPr>
          <p:cNvPr id="4" name="Image 0" descr="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8" y="1508760"/>
            <a:ext cx="10424160" cy="4826000"/>
          </a:xfrm>
          <a:prstGeom prst="rect">
            <a:avLst/>
          </a:prstGeom>
          <a:effectLst>
            <a:outerShdw blurRad="127000" dist="38100" dir="5400000" algn="bl" rotWithShape="0">
              <a:srgbClr val="5B5B5B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Run and Ingestion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captured output — 380,179 → 399,654 events; re-run appends 0; corrupt batch exits 3</a:t>
            </a:r>
            <a:endParaRPr lang="en-US" sz="1300" dirty="0"/>
          </a:p>
        </p:txBody>
      </p:sp>
      <p:pic>
        <p:nvPicPr>
          <p:cNvPr id="4" name="Image 0" descr="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066522" cy="2137773"/>
          </a:xfrm>
          <a:prstGeom prst="rect">
            <a:avLst/>
          </a:prstGeom>
          <a:effectLst>
            <a:outerShdw blurRad="127000" dist="38100" dir="5400000" algn="bl" rotWithShape="0">
              <a:srgbClr val="5B5B5B">
                <a:alpha val="28000"/>
              </a:srgbClr>
            </a:outerShdw>
          </a:effectLst>
        </p:spPr>
      </p:pic>
      <p:pic>
        <p:nvPicPr>
          <p:cNvPr id="5" name="Image 1" descr="unpacked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202" y="1600200"/>
            <a:ext cx="5707854" cy="2137773"/>
          </a:xfrm>
          <a:prstGeom prst="rect">
            <a:avLst/>
          </a:prstGeom>
          <a:effectLst>
            <a:outerShdw blurRad="127000" dist="38100" dir="5400000" algn="bl" rotWithShape="0">
              <a:srgbClr val="5B5B5B">
                <a:alpha val="2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48640" y="3966573"/>
            <a:ext cx="11094415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548640" y="4240893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380,179 → 399,654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48640" y="4679805"/>
            <a:ext cx="3515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retained after cleaning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246778" y="4240893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rows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246778" y="4679805"/>
            <a:ext cx="3515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when a batch is re-ingested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944917" y="4240893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code 3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944917" y="4679805"/>
            <a:ext cx="3515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batch rejected, nothing written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292453"/>
            <a:ext cx="11094415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Service — Live Requests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pattern: nightly feature materialisation + online scoring; model resolved by registry stage</a:t>
            </a:r>
            <a:endParaRPr lang="en-US" sz="1300" dirty="0"/>
          </a:p>
        </p:txBody>
      </p:sp>
      <p:pic>
        <p:nvPicPr>
          <p:cNvPr id="4" name="Image 0" descr="unpacked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309360" cy="2880986"/>
          </a:xfrm>
          <a:prstGeom prst="rect">
            <a:avLst/>
          </a:prstGeom>
          <a:effectLst>
            <a:outerShdw blurRad="127000" dist="38100" dir="5400000" algn="bl" rotWithShape="0">
              <a:srgbClr val="5B5B5B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493838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8.41 ms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530414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request latency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651760" y="493838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days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651760" y="530414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staleness at request time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54880" y="493838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 / 422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754880" y="530414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&amp; bad input both handled</a:t>
            </a:r>
            <a:endParaRPr lang="en-US" sz="1050" dirty="0"/>
          </a:p>
        </p:txBody>
      </p:sp>
      <p:pic>
        <p:nvPicPr>
          <p:cNvPr id="11" name="Image 1" descr="unpacked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600200"/>
            <a:ext cx="4465015" cy="1454402"/>
          </a:xfrm>
          <a:prstGeom prst="rect">
            <a:avLst/>
          </a:prstGeom>
          <a:effectLst>
            <a:outerShdw blurRad="127000" dist="38100" dir="5400000" algn="bl" rotWithShape="0">
              <a:srgbClr val="5B5B5B">
                <a:alpha val="28000"/>
              </a:srgbClr>
            </a:outerShdw>
          </a:effectLst>
        </p:spPr>
      </p:pic>
      <p:sp>
        <p:nvSpPr>
          <p:cNvPr id="12" name="Text 8"/>
          <p:cNvSpPr/>
          <p:nvPr/>
        </p:nvSpPr>
        <p:spPr>
          <a:xfrm>
            <a:off x="7178040" y="3374642"/>
            <a:ext cx="4465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178040" y="3694682"/>
            <a:ext cx="446501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CRM agent on the phone needs a score immediately; the nightly campaign list does not.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online would scan 180 days per request. Pure batch can't score on demand. Streaming adds infrastructure for features that only change daily.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staleness is closed by re-aging the 4 time-dependent features, verified equal to offline recomputation to within 1e-6.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chose the GBDT; the held-out test fold two months later shows the linear model was more robust</a:t>
            </a:r>
            <a:endParaRPr lang="en-US" sz="1300" dirty="0"/>
          </a:p>
        </p:txBody>
      </p:sp>
      <p:pic>
        <p:nvPicPr>
          <p:cNvPr id="4" name="Image 0" descr="unpacked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014084" cy="1432595"/>
          </a:xfrm>
          <a:prstGeom prst="rect">
            <a:avLst/>
          </a:prstGeom>
          <a:effectLst>
            <a:outerShdw blurRad="127000" dist="38100" dir="5400000" algn="bl" rotWithShape="0">
              <a:srgbClr val="5B5B5B">
                <a:alpha val="28000"/>
              </a:srgbClr>
            </a:outerShdw>
          </a:effectLst>
        </p:spPr>
      </p:pic>
      <p:pic>
        <p:nvPicPr>
          <p:cNvPr id="5" name="Image 1" descr="unpacked/ppt/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88827"/>
            <a:ext cx="5014084" cy="3020533"/>
          </a:xfrm>
          <a:prstGeom prst="rect">
            <a:avLst/>
          </a:prstGeom>
          <a:effectLst>
            <a:outerShdw blurRad="127000" dist="38100" dir="5400000" algn="bl" rotWithShape="0">
              <a:srgbClr val="5B5B5B">
                <a:alpha val="2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5974204" y="1600200"/>
            <a:ext cx="56688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LADDER — ROC AUC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974204" y="1965960"/>
            <a:ext cx="29478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922007" y="1965960"/>
            <a:ext cx="1360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0282531" y="1965960"/>
            <a:ext cx="1360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974204" y="2258568"/>
            <a:ext cx="5668851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5974204" y="2295144"/>
            <a:ext cx="29478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prevalence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922007" y="2295144"/>
            <a:ext cx="1360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0.500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0282531" y="2295144"/>
            <a:ext cx="1360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0.500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974204" y="2624328"/>
            <a:ext cx="29478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recency rule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922007" y="2624328"/>
            <a:ext cx="1360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0.665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0282531" y="2624328"/>
            <a:ext cx="1360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0.657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974204" y="2953512"/>
            <a:ext cx="29478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8922007" y="2953512"/>
            <a:ext cx="1360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0.753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0282531" y="2953512"/>
            <a:ext cx="1360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0.743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974204" y="3282696"/>
            <a:ext cx="29478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LightGBM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922007" y="3282696"/>
            <a:ext cx="1360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0.792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10282531" y="3282696"/>
            <a:ext cx="13605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0.726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974204" y="3749040"/>
            <a:ext cx="56688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974204" y="4041648"/>
            <a:ext cx="566885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prevalence falls from 0.500 to 0.393 across the folds as the Q4 ramp approaches. The GBDT's in-sample edge far exceeds its out-of-sample edge — it fits March–May structure that doesn't persist into August, while the linear model lacks the capacity to fit it, so it doesn't lose it either.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974204" y="5230368"/>
            <a:ext cx="56688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974204" y="5522976"/>
            <a:ext cx="5668851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Canary, don't cut over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logistic archived — rollback is one metadata write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temporal-robustness gate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on schedule (Brier degrades before AUC)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Monitoring, Drift and Retraining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that matters most arrives 90 days late — so the plan is ordered by detection lag</a:t>
            </a:r>
            <a:endParaRPr lang="en-US" sz="1300" dirty="0"/>
          </a:p>
        </p:txBody>
      </p:sp>
      <p:pic>
        <p:nvPicPr>
          <p:cNvPr id="4" name="Image 0" descr="unpacked/ppt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309360" cy="2816679"/>
          </a:xfrm>
          <a:prstGeom prst="rect">
            <a:avLst/>
          </a:prstGeom>
          <a:effectLst>
            <a:outerShdw blurRad="127000" dist="38100" dir="5400000" algn="bl" rotWithShape="0">
              <a:srgbClr val="5B5B5B">
                <a:alpha val="28000"/>
              </a:srgbClr>
            </a:outerShdw>
          </a:effectLst>
        </p:spPr>
      </p:pic>
      <p:pic>
        <p:nvPicPr>
          <p:cNvPr id="5" name="Image 1" descr="unpacked/ppt/media/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600200"/>
            <a:ext cx="4465015" cy="1468755"/>
          </a:xfrm>
          <a:prstGeom prst="rect">
            <a:avLst/>
          </a:prstGeom>
          <a:effectLst>
            <a:outerShdw blurRad="127000" dist="38100" dir="5400000" algn="bl" rotWithShape="0">
              <a:srgbClr val="5B5B5B">
                <a:alpha val="2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7178040" y="3388995"/>
            <a:ext cx="4465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TO BE TRUSTED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178040" y="3709035"/>
            <a:ext cx="446501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Aug-2011 batch → WARN. tenure_days PSI 0.956 because the customer base genuinely ages, but drift share stays at 21.7%, below the 30% threshold.</a:t>
            </a:r>
            <a:endParaRPr lang="en-US" sz="113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upstream bug → ALERT. 7 features at alert-level PSI, 43.5% drift share, PSI and KS agreeing.</a:t>
            </a:r>
            <a:endParaRPr lang="en-US" sz="113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column → ALERT, short-circuited; retraining is hard-blocked so the defect never reaches the weights.</a:t>
            </a:r>
            <a:endParaRPr lang="en-US" sz="1130" dirty="0"/>
          </a:p>
        </p:txBody>
      </p:sp>
      <p:sp>
        <p:nvSpPr>
          <p:cNvPr id="8" name="Text 4"/>
          <p:cNvSpPr/>
          <p:nvPr/>
        </p:nvSpPr>
        <p:spPr>
          <a:xfrm>
            <a:off x="548640" y="4782639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enough to catch a real failure, specific enough not to page for seasonality , a muted monitor is worse than none.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Quality, Tests and Reproduction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Config-driven, idempotent, CLI-invocable — a run is described by (git commit, config, environment)</a:t>
            </a:r>
            <a:endParaRPr lang="en-US" sz="1300" dirty="0"/>
          </a:p>
        </p:txBody>
      </p:sp>
      <p:pic>
        <p:nvPicPr>
          <p:cNvPr id="4" name="Image 0" descr="unpacked/ppt/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858000" cy="1999417"/>
          </a:xfrm>
          <a:prstGeom prst="rect">
            <a:avLst/>
          </a:prstGeom>
          <a:effectLst>
            <a:outerShdw blurRad="127000" dist="38100" dir="5400000" algn="bl" rotWithShape="0">
              <a:srgbClr val="5B5B5B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7772400" y="1691640"/>
            <a:ext cx="3870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0" y="2011680"/>
            <a:ext cx="387065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campaign uplift is assumed, not measured — a randomised holdout is the highest-value next step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seasonal cycle across six snapshots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24.9% of transactions lack a customer_id and are excluded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3919657"/>
            <a:ext cx="11094415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48640" y="4193977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END TO 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523161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data  →  make ingest  →  make train  →  make test  →  make serve  →  make load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907209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single </a:t>
            </a:r>
            <a:r>
              <a:rPr lang="en-US" sz="12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pipeline</a:t>
            </a:r>
            <a:r>
              <a:rPr lang="en-US" sz="12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end-to-end reproduction.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668</Words>
  <Application>Microsoft Office PowerPoint</Application>
  <PresentationFormat>Widescreen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Production ML System - Customer Churn Prediction</dc:title>
  <dc:subject>MLME Assignment</dc:subject>
  <dc:creator>Kinjal Joshi</dc:creator>
  <cp:lastModifiedBy>Kinjal Joshi</cp:lastModifiedBy>
  <cp:revision>2</cp:revision>
  <dcterms:created xsi:type="dcterms:W3CDTF">2026-08-08T07:45:48Z</dcterms:created>
  <dcterms:modified xsi:type="dcterms:W3CDTF">2026-08-08T07:50:57Z</dcterms:modified>
  <dc:description/>
  <cp:category/>
  <cp:keywords/>
</cp:coreProperties>
</file>